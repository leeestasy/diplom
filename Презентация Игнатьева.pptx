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9"/>
  </p:notesMasterIdLst>
  <p:sldIdLst>
    <p:sldId id="256" r:id="rId2"/>
    <p:sldId id="275" r:id="rId3"/>
    <p:sldId id="259" r:id="rId4"/>
    <p:sldId id="260" r:id="rId5"/>
    <p:sldId id="261" r:id="rId6"/>
    <p:sldId id="262" r:id="rId7"/>
    <p:sldId id="266" r:id="rId8"/>
    <p:sldId id="265" r:id="rId9"/>
    <p:sldId id="264" r:id="rId10"/>
    <p:sldId id="269" r:id="rId11"/>
    <p:sldId id="271" r:id="rId12"/>
    <p:sldId id="270" r:id="rId13"/>
    <p:sldId id="258" r:id="rId14"/>
    <p:sldId id="268" r:id="rId15"/>
    <p:sldId id="263" r:id="rId16"/>
    <p:sldId id="267" r:id="rId17"/>
    <p:sldId id="273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C0BA"/>
    <a:srgbClr val="E9F0E8"/>
    <a:srgbClr val="DBECD0"/>
    <a:srgbClr val="D5E3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4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24A33D-A88A-4BA5-85A0-3BAF61CA8A9F}" type="datetimeFigureOut">
              <a:rPr lang="ru-RU" smtClean="0"/>
              <a:t>11.06.2025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D1F953-04CB-4BF2-9884-A5252AE41B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3014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5058C-7962-44BE-989B-287F3FD002D9}" type="datetime1">
              <a:rPr lang="ru-RU" smtClean="0"/>
              <a:t>11.06.2025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0006A-25A1-4099-A6CC-09D17C3CA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864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EB5A9-22D6-40A4-ACE0-A890A7BD0A9A}" type="datetime1">
              <a:rPr lang="ru-RU" smtClean="0"/>
              <a:t>11.06.2025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0006A-25A1-4099-A6CC-09D17C3CA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8854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055D0-5CC6-446A-9480-61E2D26C5753}" type="datetime1">
              <a:rPr lang="ru-RU" smtClean="0"/>
              <a:t>11.06.2025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0006A-25A1-4099-A6CC-09D17C3CA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7713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94256-B3F8-4ED9-AE55-3194F6DE80BF}" type="datetime1">
              <a:rPr lang="ru-RU" smtClean="0"/>
              <a:t>11.06.2025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0006A-25A1-4099-A6CC-09D17C3CA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1954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5DA20-077C-4AB4-890F-5E1637C1A46A}" type="datetime1">
              <a:rPr lang="ru-RU" smtClean="0"/>
              <a:t>11.06.2025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0006A-25A1-4099-A6CC-09D17C3CA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7254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06D5-1584-42C2-9434-CDFD7166CFF1}" type="datetime1">
              <a:rPr lang="ru-RU" smtClean="0"/>
              <a:t>11.06.2025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0006A-25A1-4099-A6CC-09D17C3CA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940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133FD-469C-4240-97D6-FA869901CCEE}" type="datetime1">
              <a:rPr lang="ru-RU" smtClean="0"/>
              <a:t>11.06.2025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0006A-25A1-4099-A6CC-09D17C3CA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0061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D0938-C0E1-4AF8-B817-0BA795996CD5}" type="datetime1">
              <a:rPr lang="ru-RU" smtClean="0"/>
              <a:t>11.06.2025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0006A-25A1-4099-A6CC-09D17C3CA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855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860C9-6073-4C35-B39C-618D3AFE9B47}" type="datetime1">
              <a:rPr lang="ru-RU" smtClean="0"/>
              <a:t>11.06.2025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0006A-25A1-4099-A6CC-09D17C3CA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2886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B2E9D-5853-4A57-B8B1-1922FC11B062}" type="datetime1">
              <a:rPr lang="ru-RU" smtClean="0"/>
              <a:t>11.06.2025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0006A-25A1-4099-A6CC-09D17C3CA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2280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46D14-3F75-47D5-914E-4E92956B95A4}" type="datetime1">
              <a:rPr lang="ru-RU" smtClean="0"/>
              <a:t>11.06.2025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0006A-25A1-4099-A6CC-09D17C3CA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9114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83323-6D76-49F3-8B9D-299304884001}" type="datetime1">
              <a:rPr lang="ru-RU" smtClean="0"/>
              <a:t>11.06.2025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0006A-25A1-4099-A6CC-09D17C3CAD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4959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51FCB9-5AFD-B016-2E23-F6D657FFAF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9123" y="802088"/>
            <a:ext cx="7718780" cy="1679972"/>
          </a:xfrm>
        </p:spPr>
        <p:txBody>
          <a:bodyPr>
            <a:noAutofit/>
          </a:bodyPr>
          <a:lstStyle/>
          <a:p>
            <a:r>
              <a:rPr lang="ru-RU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 </a:t>
            </a:r>
            <a:b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</a:t>
            </a:r>
            <a:b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«Владимирский государственный университет </a:t>
            </a:r>
            <a:br>
              <a:rPr lang="ru-RU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имени Александра Григорьевича и Николая Григорьевича Столетовых» (</a:t>
            </a:r>
            <a:r>
              <a:rPr lang="ru-RU" sz="18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ВлГУ</a:t>
            </a:r>
            <a:r>
              <a:rPr lang="ru-RU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b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Колледж инновационных технологий и предпринимательства </a:t>
            </a:r>
            <a:b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b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КАФЕДРА ФИЗИКИ И ПРИКЛАДНОЙ МАТЕМАТИКИ</a:t>
            </a:r>
            <a:endParaRPr lang="ru-RU" sz="1800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09CE3CD-F1F4-93C7-A304-62657429E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324442"/>
            <a:ext cx="9086457" cy="1147244"/>
          </a:xfrm>
        </p:spPr>
        <p:txBody>
          <a:bodyPr>
            <a:noAutofit/>
          </a:bodyPr>
          <a:lstStyle/>
          <a:p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ВЕБ-ПРИЛОЖЕНИЯ СОСТАВЛЕНИЯ «РАСКЛАДКИ» ПРОДУКТОВ ТУРИСТИЧЕСКОГО ПОХОДА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F9AF7BC-5788-59F6-2237-E9D9E7B0F6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941" y="1754235"/>
            <a:ext cx="1342364" cy="13423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16225B-43D0-EB5B-7D0C-6BCE206ABDD3}"/>
              </a:ext>
            </a:extLst>
          </p:cNvPr>
          <p:cNvSpPr txBox="1"/>
          <p:nvPr/>
        </p:nvSpPr>
        <p:spPr>
          <a:xfrm>
            <a:off x="2433050" y="2601359"/>
            <a:ext cx="4572000" cy="723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</a:pPr>
            <a:r>
              <a:rPr lang="ru-RU" sz="40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Дипломная работа</a:t>
            </a:r>
            <a:endParaRPr lang="ru-RU" sz="4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7D4FFF-CD7F-698F-F06B-51941DBE842B}"/>
              </a:ext>
            </a:extLst>
          </p:cNvPr>
          <p:cNvSpPr txBox="1"/>
          <p:nvPr/>
        </p:nvSpPr>
        <p:spPr>
          <a:xfrm>
            <a:off x="2618103" y="4911472"/>
            <a:ext cx="6468354" cy="1866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Выполнила: Игнатьева Анастасия Павловна, студентка группы ИПсп-121, специальность 09.02.07 Информационные системы и программирование (квалификация программист)</a:t>
            </a:r>
          </a:p>
          <a:p>
            <a:pPr>
              <a:lnSpc>
                <a:spcPct val="108000"/>
              </a:lnSpc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8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Дипломный руководитель: Лоханов Александр Васильевич, </a:t>
            </a:r>
          </a:p>
          <a:p>
            <a:pPr>
              <a:lnSpc>
                <a:spcPct val="108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преподаватель КИТП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ВлГУ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к.т.н.</a:t>
            </a:r>
          </a:p>
        </p:txBody>
      </p:sp>
    </p:spTree>
    <p:extLst>
      <p:ext uri="{BB962C8B-B14F-4D97-AF65-F5344CB8AC3E}">
        <p14:creationId xmlns:p14="http://schemas.microsoft.com/office/powerpoint/2010/main" val="2409449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36131A-D847-6EEA-4EB6-4D75AF62F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85CBF4-27B7-29EC-C28E-DF9885869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82109"/>
          </a:xfrm>
          <a:effectLst>
            <a:outerShdw blurRad="50800" dist="50800" dir="5400000" algn="ctr" rotWithShape="0">
              <a:schemeClr val="bg1"/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77A8BE-C884-C3FA-0106-604CB469A221}"/>
              </a:ext>
            </a:extLst>
          </p:cNvPr>
          <p:cNvSpPr txBox="1"/>
          <p:nvPr/>
        </p:nvSpPr>
        <p:spPr>
          <a:xfrm>
            <a:off x="5265758" y="3372661"/>
            <a:ext cx="27678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веб-приложения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A2DDB0-C2F9-649B-9F32-0B341F746FC4}"/>
              </a:ext>
            </a:extLst>
          </p:cNvPr>
          <p:cNvSpPr txBox="1"/>
          <p:nvPr/>
        </p:nvSpPr>
        <p:spPr>
          <a:xfrm>
            <a:off x="1093836" y="2052986"/>
            <a:ext cx="28909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существующих решений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6040B8-8CC9-DEDD-2EE3-6574C19A3429}"/>
              </a:ext>
            </a:extLst>
          </p:cNvPr>
          <p:cNvSpPr txBox="1"/>
          <p:nvPr/>
        </p:nvSpPr>
        <p:spPr>
          <a:xfrm>
            <a:off x="5265758" y="2088501"/>
            <a:ext cx="29021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базы данных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6D9A46-D1CC-976F-9D1A-DDF77FBB5BE5}"/>
              </a:ext>
            </a:extLst>
          </p:cNvPr>
          <p:cNvSpPr txBox="1"/>
          <p:nvPr/>
        </p:nvSpPr>
        <p:spPr>
          <a:xfrm>
            <a:off x="5265758" y="4964597"/>
            <a:ext cx="30920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D7D887-B556-9D23-7E5B-24B7AC27690A}"/>
              </a:ext>
            </a:extLst>
          </p:cNvPr>
          <p:cNvSpPr txBox="1"/>
          <p:nvPr/>
        </p:nvSpPr>
        <p:spPr>
          <a:xfrm>
            <a:off x="1093836" y="3327705"/>
            <a:ext cx="28909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Инструментальные средства разработки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ACDA6E-5E83-33D8-0F46-8EDCA6C632CA}"/>
              </a:ext>
            </a:extLst>
          </p:cNvPr>
          <p:cNvSpPr txBox="1"/>
          <p:nvPr/>
        </p:nvSpPr>
        <p:spPr>
          <a:xfrm>
            <a:off x="1141883" y="4614187"/>
            <a:ext cx="28909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макета пользовательского интерфейса</a:t>
            </a:r>
          </a:p>
        </p:txBody>
      </p:sp>
      <p:sp>
        <p:nvSpPr>
          <p:cNvPr id="22" name="Номер слайда 21">
            <a:extLst>
              <a:ext uri="{FF2B5EF4-FFF2-40B4-BE49-F238E27FC236}">
                <a16:creationId xmlns:a16="http://schemas.microsoft.com/office/drawing/2014/main" id="{E4776EEF-3EA4-BCC1-961D-3BC62167F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0006A-25A1-4099-A6CC-09D17C3CADE5}" type="slidenum">
              <a:rPr lang="ru-RU" sz="1800" b="1" smtClean="0">
                <a:solidFill>
                  <a:sysClr val="windowText" lastClr="000000"/>
                </a:solidFill>
              </a:rPr>
              <a:t>2</a:t>
            </a:fld>
            <a:endParaRPr lang="ru-RU" sz="1800" b="1" dirty="0">
              <a:solidFill>
                <a:sysClr val="windowText" lastClr="000000"/>
              </a:solidFill>
            </a:endParaRPr>
          </a:p>
        </p:txBody>
      </p:sp>
      <p:sp>
        <p:nvSpPr>
          <p:cNvPr id="3" name="Звезда: 5 точек 2">
            <a:extLst>
              <a:ext uri="{FF2B5EF4-FFF2-40B4-BE49-F238E27FC236}">
                <a16:creationId xmlns:a16="http://schemas.microsoft.com/office/drawing/2014/main" id="{7EA2E702-B981-7C4A-C9AF-D0FB1CD4CA17}"/>
              </a:ext>
            </a:extLst>
          </p:cNvPr>
          <p:cNvSpPr/>
          <p:nvPr/>
        </p:nvSpPr>
        <p:spPr>
          <a:xfrm>
            <a:off x="506730" y="2212342"/>
            <a:ext cx="243840" cy="244798"/>
          </a:xfrm>
          <a:prstGeom prst="star5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везда: 5 точек 3">
            <a:extLst>
              <a:ext uri="{FF2B5EF4-FFF2-40B4-BE49-F238E27FC236}">
                <a16:creationId xmlns:a16="http://schemas.microsoft.com/office/drawing/2014/main" id="{1F8FC8B1-5174-20E4-6DA8-0FDC2C826CF7}"/>
              </a:ext>
            </a:extLst>
          </p:cNvPr>
          <p:cNvSpPr/>
          <p:nvPr/>
        </p:nvSpPr>
        <p:spPr>
          <a:xfrm>
            <a:off x="506730" y="3559249"/>
            <a:ext cx="243840" cy="244798"/>
          </a:xfrm>
          <a:prstGeom prst="star5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Звезда: 5 точек 4">
            <a:extLst>
              <a:ext uri="{FF2B5EF4-FFF2-40B4-BE49-F238E27FC236}">
                <a16:creationId xmlns:a16="http://schemas.microsoft.com/office/drawing/2014/main" id="{64D22947-1455-260F-D26F-ADB8A6B68009}"/>
              </a:ext>
            </a:extLst>
          </p:cNvPr>
          <p:cNvSpPr/>
          <p:nvPr/>
        </p:nvSpPr>
        <p:spPr>
          <a:xfrm>
            <a:off x="506730" y="4999619"/>
            <a:ext cx="243840" cy="244798"/>
          </a:xfrm>
          <a:prstGeom prst="star5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Звезда: 5 точек 5">
            <a:extLst>
              <a:ext uri="{FF2B5EF4-FFF2-40B4-BE49-F238E27FC236}">
                <a16:creationId xmlns:a16="http://schemas.microsoft.com/office/drawing/2014/main" id="{1AA3B6B0-8F4D-0BC4-77E5-DB97CBFDADBC}"/>
              </a:ext>
            </a:extLst>
          </p:cNvPr>
          <p:cNvSpPr/>
          <p:nvPr/>
        </p:nvSpPr>
        <p:spPr>
          <a:xfrm>
            <a:off x="4731258" y="2212342"/>
            <a:ext cx="243840" cy="244798"/>
          </a:xfrm>
          <a:prstGeom prst="star5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везда: 5 точек 6">
            <a:extLst>
              <a:ext uri="{FF2B5EF4-FFF2-40B4-BE49-F238E27FC236}">
                <a16:creationId xmlns:a16="http://schemas.microsoft.com/office/drawing/2014/main" id="{3301D892-2E90-DBCB-061F-2CEA2769488F}"/>
              </a:ext>
            </a:extLst>
          </p:cNvPr>
          <p:cNvSpPr/>
          <p:nvPr/>
        </p:nvSpPr>
        <p:spPr>
          <a:xfrm>
            <a:off x="4731258" y="3559249"/>
            <a:ext cx="243840" cy="244798"/>
          </a:xfrm>
          <a:prstGeom prst="star5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Звезда: 5 точек 7">
            <a:extLst>
              <a:ext uri="{FF2B5EF4-FFF2-40B4-BE49-F238E27FC236}">
                <a16:creationId xmlns:a16="http://schemas.microsoft.com/office/drawing/2014/main" id="{FE0B5F7C-6BDC-A8B6-5311-B78F2439A639}"/>
              </a:ext>
            </a:extLst>
          </p:cNvPr>
          <p:cNvSpPr/>
          <p:nvPr/>
        </p:nvSpPr>
        <p:spPr>
          <a:xfrm>
            <a:off x="4731258" y="4999619"/>
            <a:ext cx="243840" cy="244798"/>
          </a:xfrm>
          <a:prstGeom prst="star5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8371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A3BD9E9E-F483-F08E-98C6-015512EF0E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8141694"/>
              </p:ext>
            </p:extLst>
          </p:nvPr>
        </p:nvGraphicFramePr>
        <p:xfrm>
          <a:off x="289247" y="965589"/>
          <a:ext cx="8528180" cy="2656168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765189">
                  <a:extLst>
                    <a:ext uri="{9D8B030D-6E8A-4147-A177-3AD203B41FA5}">
                      <a16:colId xmlns:a16="http://schemas.microsoft.com/office/drawing/2014/main" val="4198850398"/>
                    </a:ext>
                  </a:extLst>
                </a:gridCol>
                <a:gridCol w="1208887">
                  <a:extLst>
                    <a:ext uri="{9D8B030D-6E8A-4147-A177-3AD203B41FA5}">
                      <a16:colId xmlns:a16="http://schemas.microsoft.com/office/drawing/2014/main" val="1668730330"/>
                    </a:ext>
                  </a:extLst>
                </a:gridCol>
                <a:gridCol w="1131325">
                  <a:extLst>
                    <a:ext uri="{9D8B030D-6E8A-4147-A177-3AD203B41FA5}">
                      <a16:colId xmlns:a16="http://schemas.microsoft.com/office/drawing/2014/main" val="390142713"/>
                    </a:ext>
                  </a:extLst>
                </a:gridCol>
                <a:gridCol w="1396104">
                  <a:extLst>
                    <a:ext uri="{9D8B030D-6E8A-4147-A177-3AD203B41FA5}">
                      <a16:colId xmlns:a16="http://schemas.microsoft.com/office/drawing/2014/main" val="3532736337"/>
                    </a:ext>
                  </a:extLst>
                </a:gridCol>
                <a:gridCol w="1350832">
                  <a:extLst>
                    <a:ext uri="{9D8B030D-6E8A-4147-A177-3AD203B41FA5}">
                      <a16:colId xmlns:a16="http://schemas.microsoft.com/office/drawing/2014/main" val="870639780"/>
                    </a:ext>
                  </a:extLst>
                </a:gridCol>
                <a:gridCol w="1675843">
                  <a:extLst>
                    <a:ext uri="{9D8B030D-6E8A-4147-A177-3AD203B41FA5}">
                      <a16:colId xmlns:a16="http://schemas.microsoft.com/office/drawing/2014/main" val="1648796897"/>
                    </a:ext>
                  </a:extLst>
                </a:gridCol>
              </a:tblGrid>
              <a:tr h="607645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ru-RU" sz="1200" dirty="0">
                          <a:effectLst/>
                        </a:rPr>
                        <a:t>Характеристика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ru-RU" sz="1200" dirty="0">
                          <a:effectLst/>
                        </a:rPr>
                        <a:t>Требования для приложения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7477611"/>
                  </a:ext>
                </a:extLst>
              </a:tr>
              <a:tr h="31560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>
                          <a:effectLst/>
                        </a:rPr>
                        <a:t>Поддержка автоматизации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dirty="0">
                          <a:effectLst/>
                        </a:rPr>
                        <a:t>Нет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dirty="0">
                          <a:effectLst/>
                        </a:rPr>
                        <a:t>Нет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dirty="0">
                          <a:effectLst/>
                        </a:rPr>
                        <a:t>Нет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dirty="0">
                          <a:effectLst/>
                        </a:rPr>
                        <a:t>Нет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>
                          <a:effectLst/>
                        </a:rPr>
                        <a:t>Да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2459116"/>
                  </a:ext>
                </a:extLst>
              </a:tr>
              <a:tr h="41508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>
                          <a:effectLst/>
                        </a:rPr>
                        <a:t>Возможность интеграции ботов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dirty="0">
                          <a:effectLst/>
                        </a:rPr>
                        <a:t>Нет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>
                          <a:effectLst/>
                        </a:rPr>
                        <a:t>Нет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dirty="0">
                          <a:effectLst/>
                        </a:rPr>
                        <a:t>Нет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>
                          <a:effectLst/>
                        </a:rPr>
                        <a:t>Нет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>
                          <a:effectLst/>
                        </a:rPr>
                        <a:t>Да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20803864"/>
                  </a:ext>
                </a:extLst>
              </a:tr>
              <a:tr h="31560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>
                          <a:effectLst/>
                        </a:rPr>
                        <a:t>Простота использования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>
                          <a:effectLst/>
                        </a:rPr>
                        <a:t>Высокая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>
                          <a:effectLst/>
                        </a:rPr>
                        <a:t>Средняя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>
                          <a:effectLst/>
                        </a:rPr>
                        <a:t>Средняя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dirty="0">
                          <a:effectLst/>
                        </a:rPr>
                        <a:t>Средняя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>
                          <a:effectLst/>
                        </a:rPr>
                        <a:t>Важно 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8123704"/>
                  </a:ext>
                </a:extLst>
              </a:tr>
              <a:tr h="83017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dirty="0">
                          <a:effectLst/>
                        </a:rPr>
                        <a:t>Стоимость использования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dirty="0">
                          <a:effectLst/>
                        </a:rPr>
                        <a:t>Бесплатно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dirty="0">
                          <a:effectLst/>
                        </a:rPr>
                        <a:t>Платное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dirty="0">
                          <a:effectLst/>
                        </a:rPr>
                        <a:t>Платное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dirty="0">
                          <a:effectLst/>
                        </a:rPr>
                        <a:t>Платное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dirty="0">
                          <a:effectLst/>
                        </a:rPr>
                        <a:t>Бесплатная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3097438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2272F2B9-289F-B924-E890-9E65158C77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353193"/>
              </p:ext>
            </p:extLst>
          </p:nvPr>
        </p:nvGraphicFramePr>
        <p:xfrm>
          <a:off x="326573" y="3623738"/>
          <a:ext cx="8490856" cy="702542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757464">
                  <a:extLst>
                    <a:ext uri="{9D8B030D-6E8A-4147-A177-3AD203B41FA5}">
                      <a16:colId xmlns:a16="http://schemas.microsoft.com/office/drawing/2014/main" val="151532229"/>
                    </a:ext>
                  </a:extLst>
                </a:gridCol>
                <a:gridCol w="1203596">
                  <a:extLst>
                    <a:ext uri="{9D8B030D-6E8A-4147-A177-3AD203B41FA5}">
                      <a16:colId xmlns:a16="http://schemas.microsoft.com/office/drawing/2014/main" val="2715652175"/>
                    </a:ext>
                  </a:extLst>
                </a:gridCol>
                <a:gridCol w="1126374">
                  <a:extLst>
                    <a:ext uri="{9D8B030D-6E8A-4147-A177-3AD203B41FA5}">
                      <a16:colId xmlns:a16="http://schemas.microsoft.com/office/drawing/2014/main" val="4144515264"/>
                    </a:ext>
                  </a:extLst>
                </a:gridCol>
                <a:gridCol w="1389994">
                  <a:extLst>
                    <a:ext uri="{9D8B030D-6E8A-4147-A177-3AD203B41FA5}">
                      <a16:colId xmlns:a16="http://schemas.microsoft.com/office/drawing/2014/main" val="185392468"/>
                    </a:ext>
                  </a:extLst>
                </a:gridCol>
                <a:gridCol w="1383780">
                  <a:extLst>
                    <a:ext uri="{9D8B030D-6E8A-4147-A177-3AD203B41FA5}">
                      <a16:colId xmlns:a16="http://schemas.microsoft.com/office/drawing/2014/main" val="3292971948"/>
                    </a:ext>
                  </a:extLst>
                </a:gridCol>
                <a:gridCol w="1629648">
                  <a:extLst>
                    <a:ext uri="{9D8B030D-6E8A-4147-A177-3AD203B41FA5}">
                      <a16:colId xmlns:a16="http://schemas.microsoft.com/office/drawing/2014/main" val="3032938523"/>
                    </a:ext>
                  </a:extLst>
                </a:gridCol>
              </a:tblGrid>
              <a:tr h="70254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dirty="0">
                          <a:effectLst/>
                        </a:rPr>
                        <a:t>Учет индивидуальных особенностей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BAC0B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effectLst/>
                        </a:rPr>
                        <a:t>Нет</a:t>
                      </a:r>
                      <a:endParaRPr lang="ru-RU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BAC0B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effectLst/>
                        </a:rPr>
                        <a:t>Нет</a:t>
                      </a:r>
                      <a:endParaRPr lang="ru-RU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BAC0B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effectLst/>
                        </a:rPr>
                        <a:t>Нет</a:t>
                      </a:r>
                      <a:endParaRPr lang="ru-RU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BAC0B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effectLst/>
                        </a:rPr>
                        <a:t>Нет</a:t>
                      </a:r>
                      <a:endParaRPr lang="ru-RU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BAC0B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effectLst/>
                        </a:rPr>
                        <a:t>Высокая </a:t>
                      </a:r>
                    </a:p>
                  </a:txBody>
                  <a:tcPr marL="68580" marR="68580" marT="0" marB="0">
                    <a:solidFill>
                      <a:srgbClr val="BAC0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152985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D16BCFC1-916D-5E25-FF9B-AC6EB7ACE3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738693"/>
              </p:ext>
            </p:extLst>
          </p:nvPr>
        </p:nvGraphicFramePr>
        <p:xfrm>
          <a:off x="289248" y="4321615"/>
          <a:ext cx="8528179" cy="2377440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750327">
                  <a:extLst>
                    <a:ext uri="{9D8B030D-6E8A-4147-A177-3AD203B41FA5}">
                      <a16:colId xmlns:a16="http://schemas.microsoft.com/office/drawing/2014/main" val="2424032742"/>
                    </a:ext>
                  </a:extLst>
                </a:gridCol>
                <a:gridCol w="1219641">
                  <a:extLst>
                    <a:ext uri="{9D8B030D-6E8A-4147-A177-3AD203B41FA5}">
                      <a16:colId xmlns:a16="http://schemas.microsoft.com/office/drawing/2014/main" val="1904164245"/>
                    </a:ext>
                  </a:extLst>
                </a:gridCol>
                <a:gridCol w="1117229">
                  <a:extLst>
                    <a:ext uri="{9D8B030D-6E8A-4147-A177-3AD203B41FA5}">
                      <a16:colId xmlns:a16="http://schemas.microsoft.com/office/drawing/2014/main" val="1576571189"/>
                    </a:ext>
                  </a:extLst>
                </a:gridCol>
                <a:gridCol w="1387225">
                  <a:extLst>
                    <a:ext uri="{9D8B030D-6E8A-4147-A177-3AD203B41FA5}">
                      <a16:colId xmlns:a16="http://schemas.microsoft.com/office/drawing/2014/main" val="153880365"/>
                    </a:ext>
                  </a:extLst>
                </a:gridCol>
                <a:gridCol w="1387225">
                  <a:extLst>
                    <a:ext uri="{9D8B030D-6E8A-4147-A177-3AD203B41FA5}">
                      <a16:colId xmlns:a16="http://schemas.microsoft.com/office/drawing/2014/main" val="1379940087"/>
                    </a:ext>
                  </a:extLst>
                </a:gridCol>
                <a:gridCol w="1666532">
                  <a:extLst>
                    <a:ext uri="{9D8B030D-6E8A-4147-A177-3AD203B41FA5}">
                      <a16:colId xmlns:a16="http://schemas.microsoft.com/office/drawing/2014/main" val="2394802060"/>
                    </a:ext>
                  </a:extLst>
                </a:gridCol>
              </a:tblGrid>
              <a:tr h="33441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dirty="0">
                          <a:effectLst/>
                        </a:rPr>
                        <a:t>Информация о питательных свойствах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effectLst/>
                        </a:rPr>
                        <a:t>Нет</a:t>
                      </a:r>
                      <a:endParaRPr lang="ru-RU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effectLst/>
                        </a:rPr>
                        <a:t>Нет</a:t>
                      </a:r>
                      <a:endParaRPr lang="ru-RU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effectLst/>
                        </a:rPr>
                        <a:t>Нет</a:t>
                      </a:r>
                      <a:endParaRPr lang="ru-RU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effectLst/>
                        </a:rPr>
                        <a:t>Нет</a:t>
                      </a:r>
                      <a:endParaRPr lang="ru-RU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effectLst/>
                        </a:rPr>
                        <a:t>Да</a:t>
                      </a:r>
                      <a:endParaRPr lang="ru-RU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6521177"/>
                  </a:ext>
                </a:extLst>
              </a:tr>
              <a:tr h="100325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dirty="0">
                          <a:effectLst/>
                        </a:rPr>
                        <a:t>Расчет порций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>
                          <a:effectLst/>
                        </a:rPr>
                        <a:t>Нет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>
                          <a:effectLst/>
                        </a:rPr>
                        <a:t>Нет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dirty="0">
                          <a:effectLst/>
                        </a:rPr>
                        <a:t>Нет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dirty="0">
                          <a:effectLst/>
                        </a:rPr>
                        <a:t>Нет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dirty="0">
                          <a:effectLst/>
                        </a:rPr>
                        <a:t>Да</a:t>
                      </a:r>
                    </a:p>
                    <a:p>
                      <a:pPr algn="just">
                        <a:buNone/>
                      </a:pPr>
                      <a:r>
                        <a:rPr lang="ru-RU" sz="1200" dirty="0">
                          <a:effectLst/>
                        </a:rPr>
                        <a:t>(автоматический расчет необходимого количества продуктов на количество человек и дней похода)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88408313"/>
                  </a:ext>
                </a:extLst>
              </a:tr>
              <a:tr h="83604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>
                          <a:effectLst/>
                        </a:rPr>
                        <a:t>Альтернативы и замены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>
                          <a:effectLst/>
                        </a:rPr>
                        <a:t>Другие картографические сервисы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dirty="0">
                          <a:effectLst/>
                        </a:rPr>
                        <a:t>Другие GPS-навигаторы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>
                          <a:effectLst/>
                        </a:rPr>
                        <a:t>Другие платформы для планирования походов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dirty="0">
                          <a:effectLst/>
                        </a:rPr>
                        <a:t>Другие платформы для планирования походов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200" dirty="0">
                          <a:effectLst/>
                        </a:rPr>
                        <a:t>Да </a:t>
                      </a:r>
                    </a:p>
                    <a:p>
                      <a:pPr algn="just">
                        <a:buNone/>
                      </a:pPr>
                      <a:r>
                        <a:rPr lang="ru-RU" sz="1200" dirty="0">
                          <a:effectLst/>
                        </a:rPr>
                        <a:t>(встроенный механизм рекомендаций альтернативных продуктов и замен)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37517020"/>
                  </a:ext>
                </a:extLst>
              </a:tr>
            </a:tbl>
          </a:graphicData>
        </a:graphic>
      </p:graphicFrame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F3C04FC4-DC14-20A7-00DB-4D370D1C9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1803" y="6492875"/>
            <a:ext cx="2057400" cy="365125"/>
          </a:xfrm>
        </p:spPr>
        <p:txBody>
          <a:bodyPr/>
          <a:lstStyle/>
          <a:p>
            <a:fld id="{C130006A-25A1-4099-A6CC-09D17C3CADE5}" type="slidenum">
              <a:rPr lang="ru-RU" sz="1800" b="1" smtClean="0">
                <a:solidFill>
                  <a:sysClr val="windowText" lastClr="000000"/>
                </a:solidFill>
              </a:rPr>
              <a:t>3</a:t>
            </a:fld>
            <a:endParaRPr lang="ru-RU" sz="1800" b="1" dirty="0">
              <a:solidFill>
                <a:sysClr val="windowText" lastClr="000000"/>
              </a:solidFill>
            </a:endParaRPr>
          </a:p>
        </p:txBody>
      </p:sp>
      <p:pic>
        <p:nvPicPr>
          <p:cNvPr id="2" name="Picture 4" descr="Picture background">
            <a:extLst>
              <a:ext uri="{FF2B5EF4-FFF2-40B4-BE49-F238E27FC236}">
                <a16:creationId xmlns:a16="http://schemas.microsoft.com/office/drawing/2014/main" id="{7C9F135D-7667-08CF-328E-F402B45C3A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70" t="667" r="19573" b="2932"/>
          <a:stretch/>
        </p:blipFill>
        <p:spPr bwMode="auto">
          <a:xfrm>
            <a:off x="2126944" y="1085529"/>
            <a:ext cx="541466" cy="481662"/>
          </a:xfrm>
          <a:prstGeom prst="rect">
            <a:avLst/>
          </a:pr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9DCC74F-4F02-8E85-A565-A666FB3782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94" t="9810" r="26735" b="7612"/>
          <a:stretch/>
        </p:blipFill>
        <p:spPr>
          <a:xfrm>
            <a:off x="3349894" y="976853"/>
            <a:ext cx="695915" cy="699014"/>
          </a:xfrm>
          <a:prstGeom prst="rect">
            <a:avLst/>
          </a:prstGeom>
          <a:effectLst>
            <a:softEdge rad="165100"/>
          </a:effectLst>
        </p:spPr>
      </p:pic>
      <p:pic>
        <p:nvPicPr>
          <p:cNvPr id="4" name="Picture 12" descr="Picture background">
            <a:extLst>
              <a:ext uri="{FF2B5EF4-FFF2-40B4-BE49-F238E27FC236}">
                <a16:creationId xmlns:a16="http://schemas.microsoft.com/office/drawing/2014/main" id="{A03F8BA2-3BB5-4CEA-84B9-D993BF7A59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64" t="11807" r="28265" b="11030"/>
          <a:stretch/>
        </p:blipFill>
        <p:spPr bwMode="auto">
          <a:xfrm>
            <a:off x="4572000" y="1006883"/>
            <a:ext cx="618375" cy="574930"/>
          </a:xfrm>
          <a:prstGeom prst="rect">
            <a:avLst/>
          </a:prstGeom>
          <a:noFill/>
          <a:effectLst>
            <a:softEdge rad="508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4" descr="Picture background">
            <a:extLst>
              <a:ext uri="{FF2B5EF4-FFF2-40B4-BE49-F238E27FC236}">
                <a16:creationId xmlns:a16="http://schemas.microsoft.com/office/drawing/2014/main" id="{2362A849-DCE3-405E-A4E5-4FD153495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590" y="1037560"/>
            <a:ext cx="545685" cy="545685"/>
          </a:xfrm>
          <a:prstGeom prst="rect">
            <a:avLst/>
          </a:pr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419E4539-A5D7-5CCB-0FC5-577EC2322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092558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существующих решений</a:t>
            </a:r>
          </a:p>
        </p:txBody>
      </p:sp>
    </p:spTree>
    <p:extLst>
      <p:ext uri="{BB962C8B-B14F-4D97-AF65-F5344CB8AC3E}">
        <p14:creationId xmlns:p14="http://schemas.microsoft.com/office/powerpoint/2010/main" val="32410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D229DC-D5E8-6E8C-CA0A-5E0A3637F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D85AF0-8B70-D8A9-4C40-A1EFAA703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Инструментальные средства разработки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5E921F-ED5A-FAC3-472A-7B95FFF21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0006A-25A1-4099-A6CC-09D17C3CADE5}" type="slidenum">
              <a:rPr lang="ru-RU" sz="1800" b="1" smtClean="0">
                <a:solidFill>
                  <a:sysClr val="windowText" lastClr="000000"/>
                </a:solidFill>
              </a:rPr>
              <a:t>4</a:t>
            </a:fld>
            <a:endParaRPr lang="ru-RU" sz="1800" b="1" dirty="0">
              <a:solidFill>
                <a:sysClr val="windowText" lastClr="000000"/>
              </a:solidFill>
            </a:endParaRPr>
          </a:p>
        </p:txBody>
      </p:sp>
      <p:pic>
        <p:nvPicPr>
          <p:cNvPr id="6" name="Picture 18" descr="Picture background">
            <a:extLst>
              <a:ext uri="{FF2B5EF4-FFF2-40B4-BE49-F238E27FC236}">
                <a16:creationId xmlns:a16="http://schemas.microsoft.com/office/drawing/2014/main" id="{BECC8201-D06B-54BC-2449-085112B17E6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23" t="7308" r="25929" b="11139"/>
          <a:stretch/>
        </p:blipFill>
        <p:spPr bwMode="auto">
          <a:xfrm>
            <a:off x="350337" y="1835673"/>
            <a:ext cx="1578840" cy="1462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6" descr="Picture background">
            <a:extLst>
              <a:ext uri="{FF2B5EF4-FFF2-40B4-BE49-F238E27FC236}">
                <a16:creationId xmlns:a16="http://schemas.microsoft.com/office/drawing/2014/main" id="{76BE17D5-F681-9CA7-73D4-E3EC7D791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37" y="5359016"/>
            <a:ext cx="1972244" cy="1109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74945ECA-C447-7B5F-9369-BCDE1FE22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7419" y="1725810"/>
            <a:ext cx="2142781" cy="2142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95938F-CFAD-5E1B-50B1-90A7ABE7B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5504" y="3663088"/>
            <a:ext cx="1325564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AF9F2F8-A03A-2029-29DC-1A2C52DCB9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2104" y="2039119"/>
            <a:ext cx="1347314" cy="1379201"/>
          </a:xfrm>
          <a:prstGeom prst="rect">
            <a:avLst/>
          </a:prstGeom>
        </p:spPr>
      </p:pic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EB207FE5-F91B-9E3A-57BA-9B62E11B3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34" y="3609124"/>
            <a:ext cx="2046973" cy="1365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E503A27-2AAF-C1AA-52C3-56B21178FE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0970" y="3418320"/>
            <a:ext cx="1864741" cy="1746968"/>
          </a:xfrm>
          <a:prstGeom prst="rect">
            <a:avLst/>
          </a:prstGeom>
          <a:effectLst>
            <a:softEdge rad="241300"/>
          </a:effec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8D9E6A85-312E-22A8-D52B-11A552C36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051" y="5068015"/>
            <a:ext cx="2651760" cy="1470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5445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BF70A9-64F7-C7AD-27BD-5FCB9DE9C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547E37-83E5-C7EE-5B99-6A1B10218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127" y="67469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ER-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в нотации Мартина</a:t>
            </a:r>
            <a:endParaRPr lang="ru-RU" sz="36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F8130B6-1323-A070-553C-1A99CB37E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0006A-25A1-4099-A6CC-09D17C3CADE5}" type="slidenum">
              <a:rPr lang="ru-RU" sz="1800" b="1" smtClean="0">
                <a:solidFill>
                  <a:sysClr val="windowText" lastClr="000000"/>
                </a:solidFill>
              </a:rPr>
              <a:t>5</a:t>
            </a:fld>
            <a:endParaRPr lang="ru-RU" sz="1800" b="1" dirty="0">
              <a:solidFill>
                <a:sysClr val="windowText" lastClr="000000"/>
              </a:solidFill>
            </a:endParaRPr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E60C6F24-51E9-4DAA-4260-C6D10F0AA7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7526" y="1110609"/>
            <a:ext cx="5699124" cy="5528166"/>
          </a:xfrm>
        </p:spPr>
      </p:pic>
    </p:spTree>
    <p:extLst>
      <p:ext uri="{BB962C8B-B14F-4D97-AF65-F5344CB8AC3E}">
        <p14:creationId xmlns:p14="http://schemas.microsoft.com/office/powerpoint/2010/main" val="1850072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892CDA-B5F9-5E2C-5609-A80D81727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957" y="48808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прецендентов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0FC21F8-D800-8238-3335-CD11B3CDC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0006A-25A1-4099-A6CC-09D17C3CADE5}" type="slidenum">
              <a:rPr lang="ru-RU" sz="1800" b="1" smtClean="0">
                <a:solidFill>
                  <a:sysClr val="windowText" lastClr="000000"/>
                </a:solidFill>
              </a:rPr>
              <a:t>6</a:t>
            </a:fld>
            <a:endParaRPr lang="ru-RU" sz="1800" b="1" dirty="0">
              <a:solidFill>
                <a:sysClr val="windowText" lastClr="000000"/>
              </a:solidFill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ABF7DD8-6846-76FF-24A8-4E9880A68C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3527" y="1374371"/>
            <a:ext cx="6316826" cy="52982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4833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30B7FF-893D-545E-865A-5843BB2B3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D21247-693D-D874-8553-79F027DCD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90" y="299812"/>
            <a:ext cx="8994710" cy="918051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деятельности ввода данных для расчета «раскладки» продуктов</a:t>
            </a:r>
            <a:br>
              <a:rPr lang="ru-RU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B8AF115-15B3-D626-5F60-AEC23E5CC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0006A-25A1-4099-A6CC-09D17C3CADE5}" type="slidenum">
              <a:rPr lang="ru-RU" sz="1800" b="1" smtClean="0">
                <a:solidFill>
                  <a:sysClr val="windowText" lastClr="000000"/>
                </a:solidFill>
              </a:rPr>
              <a:t>7</a:t>
            </a:fld>
            <a:endParaRPr lang="ru-RU" sz="1800" b="1" dirty="0">
              <a:solidFill>
                <a:sysClr val="windowText" lastClr="000000"/>
              </a:solidFill>
            </a:endParaRP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9531BABB-7971-73CC-DBEB-022A1E99A7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1397" y="1217863"/>
            <a:ext cx="4241205" cy="5455421"/>
          </a:xfrm>
        </p:spPr>
      </p:pic>
    </p:spTree>
    <p:extLst>
      <p:ext uri="{BB962C8B-B14F-4D97-AF65-F5344CB8AC3E}">
        <p14:creationId xmlns:p14="http://schemas.microsoft.com/office/powerpoint/2010/main" val="2895849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728AE4-8E95-B970-2B4E-009CE8F69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952868-A7F2-36F1-CF2F-A6B485689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136524"/>
            <a:ext cx="8631936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деятельности для просмотра рецептов блюд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80EE49-6B58-874E-8CBF-ACAE32B28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0006A-25A1-4099-A6CC-09D17C3CADE5}" type="slidenum">
              <a:rPr lang="ru-RU" sz="1800" b="1" smtClean="0">
                <a:solidFill>
                  <a:sysClr val="windowText" lastClr="000000"/>
                </a:solidFill>
              </a:rPr>
              <a:t>8</a:t>
            </a:fld>
            <a:endParaRPr lang="ru-RU" sz="1800" b="1" dirty="0">
              <a:solidFill>
                <a:sysClr val="windowText" lastClr="000000"/>
              </a:solidFill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428624E-160C-64C2-1D8C-7B148B0694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2080" y="1386137"/>
            <a:ext cx="6352032" cy="517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489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404E4C-DE02-79A3-77CC-8364A19AC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616C94-8269-3EEF-3709-FEF18B737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456" y="231014"/>
            <a:ext cx="8705088" cy="1325563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деятельности для сохранения и просмотра вариантов «раскладки» продуктов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0C16AA7-3ED9-16C9-0051-5D7B0A650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0006A-25A1-4099-A6CC-09D17C3CADE5}" type="slidenum">
              <a:rPr lang="ru-RU" sz="1800" b="1" smtClean="0">
                <a:solidFill>
                  <a:sysClr val="windowText" lastClr="000000"/>
                </a:solidFill>
              </a:rPr>
              <a:t>9</a:t>
            </a:fld>
            <a:endParaRPr lang="ru-RU" sz="1800" b="1" dirty="0">
              <a:solidFill>
                <a:sysClr val="windowText" lastClr="000000"/>
              </a:solidFill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A3BA331-ED7F-7C39-71DB-A53D581FC5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7399" y="1731135"/>
            <a:ext cx="6458566" cy="489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975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628F6B-F9F7-9A24-AF88-B52DCD6D5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4F053A-65A2-8732-1FCC-317ED5E0C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6954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макета пользовательского интерфейса</a:t>
            </a:r>
            <a:b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5C49E247-C4EF-2CF0-B622-8CAC0FD8D9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4763" y="1225522"/>
            <a:ext cx="4678815" cy="5564859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1D2BCB6-8E70-A1E3-68DC-A9DE43D41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0006A-25A1-4099-A6CC-09D17C3CADE5}" type="slidenum">
              <a:rPr lang="ru-RU" sz="1800" b="1" smtClean="0">
                <a:solidFill>
                  <a:sysClr val="windowText" lastClr="000000"/>
                </a:solidFill>
              </a:rPr>
              <a:t>10</a:t>
            </a:fld>
            <a:endParaRPr lang="ru-RU" sz="1800" b="1" dirty="0">
              <a:solidFill>
                <a:sysClr val="windowText" lastClr="000000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C1CACA5-E0BF-1CD9-7D28-7B22DD529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68" y="1220025"/>
            <a:ext cx="1013564" cy="103695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BAF9D5C-6D51-2F3E-3210-1B7B411965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23" b="1216"/>
          <a:stretch/>
        </p:blipFill>
        <p:spPr>
          <a:xfrm>
            <a:off x="6064572" y="1156617"/>
            <a:ext cx="1701732" cy="5564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583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73C083-88FD-63FE-658F-9BBA1A8C1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96DD75-B466-AA46-2843-E6AF6A13E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Разработанный интерфейс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8AF862E-8C06-4AF9-8D25-5B7A8395B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0006A-25A1-4099-A6CC-09D17C3CADE5}" type="slidenum">
              <a:rPr lang="ru-RU" sz="1800" b="1" smtClean="0">
                <a:solidFill>
                  <a:sysClr val="windowText" lastClr="000000"/>
                </a:solidFill>
              </a:rPr>
              <a:t>11</a:t>
            </a:fld>
            <a:endParaRPr lang="ru-RU" sz="1800" b="1" dirty="0">
              <a:solidFill>
                <a:sysClr val="windowText" lastClr="000000"/>
              </a:solidFill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AB94679-EE6F-EECC-44D5-009022288A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0527" y="1724299"/>
            <a:ext cx="7122946" cy="34094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16815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569022-6129-2C62-BB13-F7D01738F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1F2783-DFDA-833A-0D8B-9F813463B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794" y="15556"/>
            <a:ext cx="7886700" cy="1325563"/>
          </a:xfrm>
        </p:spPr>
        <p:txBody>
          <a:bodyPr/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Разработанный интерфейс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92A765-ABCF-05B0-F011-4D8F9E72F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0006A-25A1-4099-A6CC-09D17C3CADE5}" type="slidenum">
              <a:rPr lang="ru-RU" sz="1800" b="1" smtClean="0">
                <a:solidFill>
                  <a:sysClr val="windowText" lastClr="000000"/>
                </a:solidFill>
              </a:rPr>
              <a:t>12</a:t>
            </a:fld>
            <a:endParaRPr lang="ru-RU" sz="1800" b="1" dirty="0">
              <a:solidFill>
                <a:sysClr val="windowText" lastClr="000000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B58018D-999A-298C-C186-462E40046C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05"/>
          <a:stretch/>
        </p:blipFill>
        <p:spPr>
          <a:xfrm>
            <a:off x="2823868" y="1094757"/>
            <a:ext cx="6165047" cy="29826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Объект 4">
            <a:extLst>
              <a:ext uri="{FF2B5EF4-FFF2-40B4-BE49-F238E27FC236}">
                <a16:creationId xmlns:a16="http://schemas.microsoft.com/office/drawing/2014/main" id="{570123FC-FF67-7F03-1F82-DA8692904B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21017" r="18808"/>
          <a:stretch/>
        </p:blipFill>
        <p:spPr bwMode="auto">
          <a:xfrm>
            <a:off x="86962" y="1094757"/>
            <a:ext cx="4559683" cy="4078586"/>
          </a:xfrm>
          <a:prstGeom prst="rect">
            <a:avLst/>
          </a:prstGeom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Объект 5">
            <a:extLst>
              <a:ext uri="{FF2B5EF4-FFF2-40B4-BE49-F238E27FC236}">
                <a16:creationId xmlns:a16="http://schemas.microsoft.com/office/drawing/2014/main" id="{0BA83E03-D205-7A39-5684-941DBDC4D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3996" y="3890813"/>
            <a:ext cx="3990971" cy="246540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2008709-2A28-716B-FC09-B1D37E6AF53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61763"/>
          <a:stretch/>
        </p:blipFill>
        <p:spPr>
          <a:xfrm>
            <a:off x="4002830" y="5835420"/>
            <a:ext cx="3990971" cy="100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842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B202DB-05D7-40DD-949D-29220F7A1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1" y="-188097"/>
            <a:ext cx="91440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расчета «раскладки» продуктов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A5F1FB2-C879-7A1F-DBA1-C4129EEC8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837" y="1061122"/>
            <a:ext cx="3386277" cy="22330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65DDEE-D008-06BF-2B8E-858C25BDE4B5}"/>
              </a:ext>
            </a:extLst>
          </p:cNvPr>
          <p:cNvSpPr txBox="1"/>
          <p:nvPr/>
        </p:nvSpPr>
        <p:spPr>
          <a:xfrm>
            <a:off x="183055" y="1196442"/>
            <a:ext cx="2645736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Дано:</a:t>
            </a:r>
          </a:p>
          <a:p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Горный поход на 3 дня, </a:t>
            </a:r>
          </a:p>
          <a:p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 участника, </a:t>
            </a:r>
          </a:p>
          <a:p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калорийность 3500 ккал, вегетарианская диета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813ED0-999F-2347-4F4B-3A0F708E0482}"/>
              </a:ext>
            </a:extLst>
          </p:cNvPr>
          <p:cNvSpPr txBox="1"/>
          <p:nvPr/>
        </p:nvSpPr>
        <p:spPr>
          <a:xfrm>
            <a:off x="281949" y="4830468"/>
            <a:ext cx="406814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Общий вес=Кол-во на чел.×</a:t>
            </a:r>
            <a:r>
              <a:rPr lang="ru-RU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Участники×Дни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086818C-9BBA-F4AF-C777-862F615D5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288" y="3885568"/>
            <a:ext cx="3606800" cy="2703965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4EB4D7E-69F6-C066-F741-E93E9E063F7D}"/>
              </a:ext>
            </a:extLst>
          </p:cNvPr>
          <p:cNvSpPr/>
          <p:nvPr/>
        </p:nvSpPr>
        <p:spPr>
          <a:xfrm>
            <a:off x="7640468" y="6305558"/>
            <a:ext cx="454660" cy="1930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14705AA-E4F3-F1B8-0FEC-5746CE448B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0468" y="6342215"/>
            <a:ext cx="53754" cy="119725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A25C084-F202-3359-500F-05A715BCA2F5}"/>
              </a:ext>
            </a:extLst>
          </p:cNvPr>
          <p:cNvSpPr/>
          <p:nvPr/>
        </p:nvSpPr>
        <p:spPr>
          <a:xfrm>
            <a:off x="7707985" y="5996882"/>
            <a:ext cx="454660" cy="1930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350F0C9-F9D2-420A-3507-1C116323C27F}"/>
              </a:ext>
            </a:extLst>
          </p:cNvPr>
          <p:cNvSpPr/>
          <p:nvPr/>
        </p:nvSpPr>
        <p:spPr>
          <a:xfrm>
            <a:off x="7707985" y="5737549"/>
            <a:ext cx="454660" cy="1930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64DED67-12F1-2BFD-A95C-A394B6DE56C2}"/>
              </a:ext>
            </a:extLst>
          </p:cNvPr>
          <p:cNvSpPr/>
          <p:nvPr/>
        </p:nvSpPr>
        <p:spPr>
          <a:xfrm>
            <a:off x="7707985" y="5415848"/>
            <a:ext cx="454660" cy="1930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84A7593-AAF7-E04C-2117-8B9868958BEF}"/>
              </a:ext>
            </a:extLst>
          </p:cNvPr>
          <p:cNvSpPr/>
          <p:nvPr/>
        </p:nvSpPr>
        <p:spPr>
          <a:xfrm>
            <a:off x="7711588" y="5158478"/>
            <a:ext cx="454660" cy="1930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88F81DB-8814-B371-E9B1-B9C1A23321AC}"/>
              </a:ext>
            </a:extLst>
          </p:cNvPr>
          <p:cNvSpPr/>
          <p:nvPr/>
        </p:nvSpPr>
        <p:spPr>
          <a:xfrm>
            <a:off x="7711588" y="4874503"/>
            <a:ext cx="454660" cy="1930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34D60F0-A2FC-99C4-53C8-6ABBCACF58D7}"/>
              </a:ext>
            </a:extLst>
          </p:cNvPr>
          <p:cNvSpPr/>
          <p:nvPr/>
        </p:nvSpPr>
        <p:spPr>
          <a:xfrm>
            <a:off x="7709255" y="4579407"/>
            <a:ext cx="454660" cy="1930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78B34A2-5361-2DFF-8139-2B34B0E309CB}"/>
              </a:ext>
            </a:extLst>
          </p:cNvPr>
          <p:cNvSpPr/>
          <p:nvPr/>
        </p:nvSpPr>
        <p:spPr>
          <a:xfrm>
            <a:off x="7719141" y="4279640"/>
            <a:ext cx="454660" cy="19304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B1FD9B-8A98-DDA5-F165-3AB07F207A7A}"/>
              </a:ext>
            </a:extLst>
          </p:cNvPr>
          <p:cNvSpPr txBox="1"/>
          <p:nvPr/>
        </p:nvSpPr>
        <p:spPr>
          <a:xfrm>
            <a:off x="560152" y="5518315"/>
            <a:ext cx="3171788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Кол-во упаковок</a:t>
            </a: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=⌈</a:t>
            </a:r>
            <a:r>
              <a:rPr lang="ru-RU" sz="1600" b="0" i="0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Вес упаковки </a:t>
            </a: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⌉</a:t>
            </a:r>
            <a:endParaRPr lang="ru-RU" sz="1600" b="0" i="0" u="sng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</a:t>
            </a: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Общий вес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A10349-B2A4-8E93-ADB2-479729BF35D5}"/>
              </a:ext>
            </a:extLst>
          </p:cNvPr>
          <p:cNvSpPr txBox="1"/>
          <p:nvPr/>
        </p:nvSpPr>
        <p:spPr>
          <a:xfrm>
            <a:off x="6488531" y="1331733"/>
            <a:ext cx="26060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Стандартный план на  день горного похода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F1BA7BF-663D-6D1A-9AD0-E6BEC9CBBE9A}"/>
              </a:ext>
            </a:extLst>
          </p:cNvPr>
          <p:cNvSpPr txBox="1"/>
          <p:nvPr/>
        </p:nvSpPr>
        <p:spPr>
          <a:xfrm>
            <a:off x="4891737" y="3398913"/>
            <a:ext cx="42817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Итоговая «раскладка» после замен продуктов и проведения расчетов</a:t>
            </a:r>
          </a:p>
        </p:txBody>
      </p:sp>
      <p:sp>
        <p:nvSpPr>
          <p:cNvPr id="5" name="Номер слайда 7">
            <a:extLst>
              <a:ext uri="{FF2B5EF4-FFF2-40B4-BE49-F238E27FC236}">
                <a16:creationId xmlns:a16="http://schemas.microsoft.com/office/drawing/2014/main" id="{7431C858-BAB4-F055-2A0F-34A6D9877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C130006A-25A1-4099-A6CC-09D17C3CADE5}" type="slidenum">
              <a:rPr lang="ru-RU" sz="1800" b="1" smtClean="0">
                <a:solidFill>
                  <a:sysClr val="windowText" lastClr="000000"/>
                </a:solidFill>
              </a:rPr>
              <a:t>13</a:t>
            </a:fld>
            <a:endParaRPr lang="ru-RU" sz="18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DD4111-0262-9E07-85AB-89CFFA7D687E}"/>
              </a:ext>
            </a:extLst>
          </p:cNvPr>
          <p:cNvSpPr txBox="1"/>
          <p:nvPr/>
        </p:nvSpPr>
        <p:spPr>
          <a:xfrm>
            <a:off x="560152" y="4210075"/>
            <a:ext cx="319549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Замена: Тушёнки =</a:t>
            </a:r>
            <a:r>
              <a:rPr lang="en-US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ru-RU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Чечевицу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DB9AE6DE-0E03-6DCE-F360-A7C4743DC72D}"/>
              </a:ext>
            </a:extLst>
          </p:cNvPr>
          <p:cNvCxnSpPr>
            <a:cxnSpLocks/>
          </p:cNvCxnSpPr>
          <p:nvPr/>
        </p:nvCxnSpPr>
        <p:spPr>
          <a:xfrm flipH="1" flipV="1">
            <a:off x="6010656" y="1755648"/>
            <a:ext cx="1021973" cy="332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BAB49D39-9706-A54C-A9EF-8F4A977E60E3}"/>
              </a:ext>
            </a:extLst>
          </p:cNvPr>
          <p:cNvCxnSpPr>
            <a:stCxn id="6" idx="3"/>
          </p:cNvCxnSpPr>
          <p:nvPr/>
        </p:nvCxnSpPr>
        <p:spPr>
          <a:xfrm>
            <a:off x="3755642" y="4394741"/>
            <a:ext cx="1425958" cy="5762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760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E5EBF9-300C-D61F-B160-5BC9349E6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A92AB6-B26D-025C-02FA-8E3A87A82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00093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Разработанный интерфейс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8C4FD8C-F3C9-F988-425F-B8509D930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0006A-25A1-4099-A6CC-09D17C3CADE5}" type="slidenum">
              <a:rPr lang="ru-RU" sz="1800" b="1" smtClean="0">
                <a:solidFill>
                  <a:sysClr val="windowText" lastClr="000000"/>
                </a:solidFill>
              </a:rPr>
              <a:t>14</a:t>
            </a:fld>
            <a:endParaRPr lang="ru-RU" sz="1800" b="1" dirty="0">
              <a:solidFill>
                <a:sysClr val="windowText" lastClr="000000"/>
              </a:solidFill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4375BEB-7112-7D68-C3C5-C6A526FB2C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664" y="1481502"/>
            <a:ext cx="6685724" cy="32279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01BDD90-E9C3-B176-BF85-4E1C35F17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352" y="2322667"/>
            <a:ext cx="3680179" cy="40694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87161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6C08D0-4E29-C0BB-8148-DD44D7D50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394F00-1EEB-1C36-DE09-DA1AFF006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86287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Разработанный интерфейс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1AE5EF-38D3-1EA7-92A3-55473499D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0006A-25A1-4099-A6CC-09D17C3CADE5}" type="slidenum">
              <a:rPr lang="ru-RU" sz="1800" b="1" smtClean="0">
                <a:solidFill>
                  <a:sysClr val="windowText" lastClr="000000"/>
                </a:solidFill>
              </a:rPr>
              <a:t>15</a:t>
            </a:fld>
            <a:endParaRPr lang="ru-RU" sz="1800" b="1" dirty="0">
              <a:solidFill>
                <a:sysClr val="windowText" lastClr="000000"/>
              </a:solidFill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46808AB-103C-BCD8-6D42-3E6E6819D5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403" y="1736988"/>
            <a:ext cx="8348947" cy="39461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FCA01D3-059B-DB1A-0048-B659641D1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1847" y="1174830"/>
            <a:ext cx="3455750" cy="49162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50610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18E1AA-77FB-D3FF-562A-8FD8DD2B5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F34B05-7E78-30F7-D9CD-240E112DD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674" y="-114018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C892177-3030-610D-939D-BCA84FCFD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0006A-25A1-4099-A6CC-09D17C3CADE5}" type="slidenum">
              <a:rPr lang="ru-RU" sz="1800" b="1" smtClean="0">
                <a:solidFill>
                  <a:sysClr val="windowText" lastClr="000000"/>
                </a:solidFill>
              </a:rPr>
              <a:t>16</a:t>
            </a:fld>
            <a:endParaRPr lang="ru-RU" sz="1800" b="1" dirty="0">
              <a:solidFill>
                <a:sysClr val="windowText" lastClr="000000"/>
              </a:solidFill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43CE89B-D909-DB76-4062-1544B5E9DA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1633"/>
          <a:stretch/>
        </p:blipFill>
        <p:spPr>
          <a:xfrm>
            <a:off x="244572" y="1934120"/>
            <a:ext cx="4288583" cy="36175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178417-83AB-EA3B-7D57-BAC5E462A078}"/>
              </a:ext>
            </a:extLst>
          </p:cNvPr>
          <p:cNvSpPr txBox="1"/>
          <p:nvPr/>
        </p:nvSpPr>
        <p:spPr>
          <a:xfrm>
            <a:off x="628650" y="1211545"/>
            <a:ext cx="28034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Unit-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49AE1B-4BFF-335F-2C51-6EC2C01EC1D1}"/>
              </a:ext>
            </a:extLst>
          </p:cNvPr>
          <p:cNvSpPr txBox="1"/>
          <p:nvPr/>
        </p:nvSpPr>
        <p:spPr>
          <a:xfrm>
            <a:off x="5204100" y="1211545"/>
            <a:ext cx="3053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Ручное тестирование: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87CA74C3-081B-BFA9-61AB-E050901477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038898"/>
              </p:ext>
            </p:extLst>
          </p:nvPr>
        </p:nvGraphicFramePr>
        <p:xfrm>
          <a:off x="4714250" y="1944597"/>
          <a:ext cx="4033163" cy="359664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3120740">
                  <a:extLst>
                    <a:ext uri="{9D8B030D-6E8A-4147-A177-3AD203B41FA5}">
                      <a16:colId xmlns:a16="http://schemas.microsoft.com/office/drawing/2014/main" val="1115783333"/>
                    </a:ext>
                  </a:extLst>
                </a:gridCol>
                <a:gridCol w="912423">
                  <a:extLst>
                    <a:ext uri="{9D8B030D-6E8A-4147-A177-3AD203B41FA5}">
                      <a16:colId xmlns:a16="http://schemas.microsoft.com/office/drawing/2014/main" val="499366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Название теста</a:t>
                      </a:r>
                    </a:p>
                  </a:txBody>
                  <a:tcPr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Статус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780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Переход между страницами в навигационном меню</a:t>
                      </a:r>
                    </a:p>
                  </a:txBody>
                  <a:tcPr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3700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Переход на главную страницу по логотипу</a:t>
                      </a:r>
                    </a:p>
                  </a:txBody>
                  <a:tcPr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2574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Ввод значений в поле «Количество человек в группе»</a:t>
                      </a:r>
                    </a:p>
                  </a:txBody>
                  <a:tcPr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3234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Ввод значений в поле «Количество дней похода»</a:t>
                      </a:r>
                    </a:p>
                  </a:txBody>
                  <a:tcPr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210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Работа раскрывающего списка «Вид похода»</a:t>
                      </a:r>
                    </a:p>
                  </a:txBody>
                  <a:tcPr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596121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0B15E76-54A7-04BE-E302-4E606C721BFF}"/>
              </a:ext>
            </a:extLst>
          </p:cNvPr>
          <p:cNvSpPr txBox="1"/>
          <p:nvPr/>
        </p:nvSpPr>
        <p:spPr>
          <a:xfrm>
            <a:off x="244572" y="576412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Выполнено 5 ручных и 17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-тестов.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639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ACA29C-21D2-910B-D809-36D865B7C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4DE11962-5B8C-D8BE-ED30-CD0A8D6F7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352" y="312575"/>
            <a:ext cx="7886700" cy="820039"/>
          </a:xfrm>
        </p:spPr>
        <p:txBody>
          <a:bodyPr>
            <a:norm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ru-RU" sz="3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8099610-3F60-FF42-CDE3-0D1885695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0006A-25A1-4099-A6CC-09D17C3CADE5}" type="slidenum">
              <a:rPr lang="ru-RU" sz="1800" b="1" smtClean="0">
                <a:solidFill>
                  <a:sysClr val="windowText" lastClr="000000"/>
                </a:solidFill>
              </a:rPr>
              <a:t>17</a:t>
            </a:fld>
            <a:endParaRPr lang="ru-RU" sz="1800" b="1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4E7D46E0-D0C6-3B14-3A2D-08D9155EF6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269399"/>
              </p:ext>
            </p:extLst>
          </p:nvPr>
        </p:nvGraphicFramePr>
        <p:xfrm>
          <a:off x="1108056" y="1460426"/>
          <a:ext cx="7407294" cy="456811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855851">
                  <a:extLst>
                    <a:ext uri="{9D8B030D-6E8A-4147-A177-3AD203B41FA5}">
                      <a16:colId xmlns:a16="http://schemas.microsoft.com/office/drawing/2014/main" val="71879182"/>
                    </a:ext>
                  </a:extLst>
                </a:gridCol>
                <a:gridCol w="3551443">
                  <a:extLst>
                    <a:ext uri="{9D8B030D-6E8A-4147-A177-3AD203B41FA5}">
                      <a16:colId xmlns:a16="http://schemas.microsoft.com/office/drawing/2014/main" val="969063778"/>
                    </a:ext>
                  </a:extLst>
                </a:gridCol>
              </a:tblGrid>
              <a:tr h="400781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Поставленные задачи</a:t>
                      </a:r>
                    </a:p>
                  </a:txBody>
                  <a:tcPr marL="85882" marR="71568" marT="71568" marB="7156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Результаты выполнения</a:t>
                      </a:r>
                    </a:p>
                  </a:txBody>
                  <a:tcPr marL="71568" marR="71568" marT="71568" marB="7156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661682"/>
                  </a:ext>
                </a:extLst>
              </a:tr>
              <a:tr h="658426"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Анализ существующих решений</a:t>
                      </a:r>
                    </a:p>
                  </a:txBody>
                  <a:tcPr marL="85882" marR="71568" marT="71568" marB="71568" anchor="ctr"/>
                </a:tc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Выявлены ключевые недостатки аналогов</a:t>
                      </a:r>
                    </a:p>
                  </a:txBody>
                  <a:tcPr marL="71568" marR="71568" marT="71568" marB="71568" anchor="ctr"/>
                </a:tc>
                <a:extLst>
                  <a:ext uri="{0D108BD9-81ED-4DB2-BD59-A6C34878D82A}">
                    <a16:rowId xmlns:a16="http://schemas.microsoft.com/office/drawing/2014/main" val="3624533762"/>
                  </a:ext>
                </a:extLst>
              </a:tr>
              <a:tr h="658426"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 базы данных</a:t>
                      </a:r>
                    </a:p>
                  </a:txBody>
                  <a:tcPr marL="85882" marR="71568" marT="71568" marB="71568" anchor="ctr"/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Создана нормализованная БД в MS SQL</a:t>
                      </a:r>
                    </a:p>
                  </a:txBody>
                  <a:tcPr marL="71568" marR="71568" marT="71568" marB="71568" anchor="ctr"/>
                </a:tc>
                <a:extLst>
                  <a:ext uri="{0D108BD9-81ED-4DB2-BD59-A6C34878D82A}">
                    <a16:rowId xmlns:a16="http://schemas.microsoft.com/office/drawing/2014/main" val="927607492"/>
                  </a:ext>
                </a:extLst>
              </a:tr>
              <a:tr h="658426"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Инструментальные средства разработки</a:t>
                      </a:r>
                    </a:p>
                  </a:txBody>
                  <a:tcPr marL="85882" marR="71568" marT="71568" marB="71568"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Использованы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ASP.NET Core, Entity Framework</a:t>
                      </a:r>
                      <a:r>
                        <a:rPr lang="ru-RU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 SQL </a:t>
                      </a:r>
                      <a:r>
                        <a:rPr lang="ru-RU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 др.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568" marR="71568" marT="71568" marB="71568" anchor="ctr"/>
                </a:tc>
                <a:extLst>
                  <a:ext uri="{0D108BD9-81ED-4DB2-BD59-A6C34878D82A}">
                    <a16:rowId xmlns:a16="http://schemas.microsoft.com/office/drawing/2014/main" val="3088469542"/>
                  </a:ext>
                </a:extLst>
              </a:tr>
              <a:tr h="658426"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 веб-приложения</a:t>
                      </a:r>
                    </a:p>
                  </a:txBody>
                  <a:tcPr marL="85882" marR="71568" marT="71568" marB="71568" anchor="ctr"/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Реализовано веб-приложение с алгоритмами расчета</a:t>
                      </a:r>
                    </a:p>
                  </a:txBody>
                  <a:tcPr marL="71568" marR="71568" marT="71568" marB="71568" anchor="ctr"/>
                </a:tc>
                <a:extLst>
                  <a:ext uri="{0D108BD9-81ED-4DB2-BD59-A6C34878D82A}">
                    <a16:rowId xmlns:a16="http://schemas.microsoft.com/office/drawing/2014/main" val="3270393669"/>
                  </a:ext>
                </a:extLst>
              </a:tr>
              <a:tr h="658426"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 </a:t>
                      </a:r>
                      <a:r>
                        <a:rPr lang="en-US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UI-</a:t>
                      </a:r>
                      <a:r>
                        <a:rPr lang="ru-RU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макетов</a:t>
                      </a:r>
                    </a:p>
                  </a:txBody>
                  <a:tcPr marL="85882" marR="71568" marT="71568" marB="71568" anchor="ctr"/>
                </a:tc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Созданы адаптивные интерфейсы (</a:t>
                      </a:r>
                      <a:r>
                        <a:rPr lang="en-US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Figma)</a:t>
                      </a:r>
                    </a:p>
                  </a:txBody>
                  <a:tcPr marL="71568" marR="71568" marT="71568" marB="71568" anchor="ctr"/>
                </a:tc>
                <a:extLst>
                  <a:ext uri="{0D108BD9-81ED-4DB2-BD59-A6C34878D82A}">
                    <a16:rowId xmlns:a16="http://schemas.microsoft.com/office/drawing/2014/main" val="4209526811"/>
                  </a:ext>
                </a:extLst>
              </a:tr>
              <a:tr h="658426"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Тестирование</a:t>
                      </a:r>
                    </a:p>
                  </a:txBody>
                  <a:tcPr marL="85882" marR="71568" marT="71568" marB="71568" anchor="ctr"/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Проведены модульные и интеграционные тесты</a:t>
                      </a:r>
                    </a:p>
                  </a:txBody>
                  <a:tcPr marL="71568" marR="71568" marT="71568" marB="71568" anchor="ctr"/>
                </a:tc>
                <a:extLst>
                  <a:ext uri="{0D108BD9-81ED-4DB2-BD59-A6C34878D82A}">
                    <a16:rowId xmlns:a16="http://schemas.microsoft.com/office/drawing/2014/main" val="4210880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77589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1840</TotalTime>
  <Words>465</Words>
  <Application>Microsoft Office PowerPoint</Application>
  <PresentationFormat>Экран (4:3)</PresentationFormat>
  <Paragraphs>137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Тема Office</vt:lpstr>
      <vt:lpstr>Министерство науки и высшего образования Российской Федерации  Федеральное государственное бюджетное образовательное учреждение высшего образования «Владимирский государственный университет  имени Александра Григорьевича и Николая Григорьевича Столетовых» (ВлГУ)  Колледж инновационных технологий и предпринимательства    КАФЕДРА ФИЗИКИ И ПРИКЛАДНОЙ МАТЕМАТИКИ</vt:lpstr>
      <vt:lpstr>Задачи</vt:lpstr>
      <vt:lpstr>Анализ существующих решений</vt:lpstr>
      <vt:lpstr>Инструментальные средства разработки</vt:lpstr>
      <vt:lpstr>ER-диаграмма в нотации Мартина</vt:lpstr>
      <vt:lpstr>Диаграмма прецендентов</vt:lpstr>
      <vt:lpstr>Диаграмма деятельности ввода данных для расчета «раскладки» продуктов </vt:lpstr>
      <vt:lpstr>Диаграмма деятельности для просмотра рецептов блюд</vt:lpstr>
      <vt:lpstr>Диаграмма деятельности для сохранения и просмотра вариантов «раскладки» продуктов</vt:lpstr>
      <vt:lpstr>Разработка макета пользовательского интерфейса </vt:lpstr>
      <vt:lpstr>Разработанный интерфейс</vt:lpstr>
      <vt:lpstr>Разработанный интерфейс</vt:lpstr>
      <vt:lpstr>Пример расчета «раскладки» продуктов</vt:lpstr>
      <vt:lpstr>Разработанный интерфейс</vt:lpstr>
      <vt:lpstr>Разработанный интерфейс</vt:lpstr>
      <vt:lpstr>Тестирование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Анастасия Игнатьева</dc:creator>
  <cp:lastModifiedBy>Анастасия Игнатьева</cp:lastModifiedBy>
  <cp:revision>22</cp:revision>
  <dcterms:created xsi:type="dcterms:W3CDTF">2025-05-29T12:46:08Z</dcterms:created>
  <dcterms:modified xsi:type="dcterms:W3CDTF">2025-06-11T10:45:48Z</dcterms:modified>
</cp:coreProperties>
</file>